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42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16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82880"/>
            <a:ext cx="1463040" cy="1463040"/>
          </a:xfrm>
          <a:prstGeom prst="ellipse">
            <a:avLst/>
          </a:prstGeom>
          <a:solidFill>
            <a:srgbClr val="48CAE4">
              <a:alpha val="32000"/>
            </a:srgbClr>
          </a:solidFill>
          <a:ln w="12700">
            <a:solidFill>
              <a:srgbClr val="48CAE4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USRF 2026  ·  SBDA Lab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 RNA-seq Project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1148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834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Biology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2B788">
              <a:alpha val="8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(R)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834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(Python)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813816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Abhishek Sengupta  ·  SBDA Lab, Amity University Noida  ·  June –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051560"/>
            <a:ext cx="548640" cy="10058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2527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— NGS, TCGA-BRCA, DESeq2, and ML concepts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286000"/>
            <a:ext cx="548640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8716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Workflow — Tumor vs Normal Classification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520440"/>
            <a:ext cx="54864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04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72160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Primer — From zero to running your first bioinformatics code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· TCGA-BRCA · Differential Expression · Machine Learning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NGS (Next Generation Sequencing)?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reads millions of DNA/RNA fragments simultaneously — a revolution over older one-fragment-at-a-time methods.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is a specific application that sequences RNA — the molecules produced when genes are 'switched on'.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machines can sequence an entire human genome in ~1 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94960" y="960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32120" y="1554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RNA-seq tells us which genes are active — and how active — in a cell.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2487168"/>
            <a:ext cx="30632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we compare a cancer cell to a normal cell.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EFF9F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343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it as: millions of tiny jigsaw puzzle pieces (fragments) that need to be pieced back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Count Matrix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993392" cy="329184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1115568"/>
            <a:ext cx="640080" cy="6400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19202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42316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machine → FASTQ files (raw sequences + quality scores)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005840"/>
            <a:ext cx="1993392" cy="329184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15568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60904" y="19202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60904" y="242316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HISAT2 maps each fragment back to the human genome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1144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024" y="1005840"/>
            <a:ext cx="1993392" cy="329184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115568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37176" y="19202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37176" y="242316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fragments per gene → more fragments = higher expression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0296" y="1005840"/>
            <a:ext cx="1993392" cy="329184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16952" y="1115568"/>
            <a:ext cx="640080" cy="6400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3448" y="192024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Matrix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13448" y="2423160"/>
            <a:ext cx="18470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genes, Columns = samples, Values = read counts. This is where our project begins 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43484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F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has already completed steps 1–3 for ~1,200 breast cancer patients. We download ready-made count matrices directly using an R package.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TCGA-BRCA?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</a:t>
            </a: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Cancer Genome Atlas — a massive public database of cancer genomic data (US National Cancer Institute).
</a:t>
            </a: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</a:t>
            </a: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Breast Cancer project within TCGA — RNA-seq data from ~1,200 patients.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005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~1,200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23760" y="9601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1005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~1,100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237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Tumor samples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1488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Tissue samples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1488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Analyzed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Features: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~1,100 Tumor samples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365760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~114 Normal samples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365760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genes per sample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11696" y="365760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via TCGAbiolinks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data is freely accessible, well-documented, and widely used in research — ideal for reproducible bioinformatics projects.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Gene Expression (DGE) &amp; DESeq2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genes are turned ON or OFF differently between two groups (e.g. tumor vs normal)?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92808"/>
            <a:ext cx="594360" cy="5943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MORE active in tumor than normal.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MKI67, PCNA, TOP2A (cell division genes)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892808"/>
            <a:ext cx="594360" cy="5943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6733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Downregulated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LESS active in tumor than normal.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CDH1, ESR1 (in some subtypes)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10128"/>
            <a:ext cx="594360" cy="59436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090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Fold Change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doublings of expression difference between groups — measure of effect size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310128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090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p-value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77840" y="347472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confidence, corrected for testing thousands of genes simultaneously (padj &lt; 0.05)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Learning's Role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finding differentially expressed genes, we use them as features to train an ML model that predicts sample group from gene expression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41148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56232"/>
            <a:ext cx="4114800" cy="1828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28216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decision trees and combines their votes. Great for beginners — works well out-of-the-box and provides feature importance scores.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91640"/>
            <a:ext cx="411480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6916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856232"/>
            <a:ext cx="4114800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728216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10328" y="212140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thousands of gene-expression values into 2–3 dimensions — lets us visualize whether groups naturally separate.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41148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64992"/>
            <a:ext cx="411480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36976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363016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on 80% of samples, test on the remaining 20% it has never seen — ensures the model generalizes.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200400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20040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364992"/>
            <a:ext cx="4114800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236976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10328" y="363016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Precision, Recall, F1-score — multiple lenses to measure prediction quality.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BRCA-TvN: 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02336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023360" cy="228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BRCA-TvN — Tumor vs Normal 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vs Normal (binary)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— clean separation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biological question with clear outcomes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projects &amp; graduate applications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02336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601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88720"/>
            <a:ext cx="4023360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cancer genomics research workflows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pipeline from raw counts to ML predictions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ML Accuracy: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~99%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interpretation connects stats to biology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GitHub repo with R Markdowns + Jupyter notebooks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892040"/>
            <a:ext cx="8321040" cy="0"/>
          </a:xfrm>
          <a:prstGeom prst="roundRect">
            <a:avLst>
              <a:gd name="adj" fmla="val Infinity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Project Workflow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for Genomics → CSV Export → Python for ML → Biological Interpretation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07008"/>
            <a:ext cx="594360" cy="59436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 (R)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207008"/>
            <a:ext cx="594360" cy="59436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Normalize (R)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07008"/>
            <a:ext cx="594360" cy="5943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Analysis (R)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487168"/>
            <a:ext cx="594360" cy="5943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87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(R)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2860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2487168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487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487168"/>
            <a:ext cx="594360" cy="5943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487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 (Python)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67328"/>
            <a:ext cx="594360" cy="5943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(Python)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3566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376732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Interpretation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3566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376732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9516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 — BRCA-TvN: Module Breakdown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Identify genes that differ between breast tumor and normal tissue → build a binary classifier (tumor=1, normal=0)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09928"/>
            <a:ext cx="2697480" cy="1828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54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Data Acquisition (R)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84248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TCGAbiolinks: download TCGA-BRCA RNA-seq counts + clinical metadata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sample_type: Primary Tumor (~1,100) vs Solid Tissue Normal (~114)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low-count genes (&lt; 10 total counts) — likely noise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VST normalization via DESeq2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709928"/>
            <a:ext cx="2697480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554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Differential Expression (R)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84248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DESeq2: tumor vs normal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log2FC vs -log10(padj)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plot, Heatmap of top 50 DEGs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MKI67, PCNA, TOP2A up; CDH1, ESR1 down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09928"/>
            <a:ext cx="269748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5448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Feature Selection &amp; Export (R)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1984248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DEGs: padj &lt; 0.05 AND |log2FC| &gt;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200–500 DEGs as ML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VST-normalized matrix as CSV → handoff to Python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251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91840"/>
            <a:ext cx="4251960" cy="384048"/>
          </a:xfrm>
          <a:prstGeom prst="roundRect">
            <a:avLst>
              <a:gd name="adj" fmla="val 19048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93008"/>
            <a:ext cx="4251960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37560"/>
            <a:ext cx="4032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ML Binary Classifier (Python)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767328"/>
            <a:ext cx="4032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labels: 0=normal, 1=tumor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with SMOTE or class_weight='balanced'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visualization, 80/20 train/test split, Random Forest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Precision, Recall, Feature importance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3291840"/>
            <a:ext cx="3886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291840"/>
            <a:ext cx="388620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493008"/>
            <a:ext cx="388620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3337560"/>
            <a:ext cx="3666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Biological Interpretation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01768" y="3767328"/>
            <a:ext cx="3666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 ML feature genes match top DESeq2 DEGs?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against known breast cancer oncogenes/suppressors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clinical meaning → forms core narrative for July 7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Programming Primer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absolute zero to your first bioinformatics code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 and How to Install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programming language built specifically for statistics, data analysis, and visualization — widely used in biology and bioinformatics.
</a:t>
            </a: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IDE (friendly interface) for R — think of it as Microsoft Word, but for R code.
In this project, R handles all genomics work: downloading TCGA data, running DESeq2, and creating publication plots.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3898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28032" y="1463040"/>
            <a:ext cx="530352" cy="530352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14447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1783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cran.r-project.org → choose your OS → download + run installer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054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2578608"/>
            <a:ext cx="530352" cy="5303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RStudio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40680" y="28986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posit.co/download/rstudio-desktop → free Desktop version. R must be installed first!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21024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3694176"/>
            <a:ext cx="530352" cy="5303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694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3675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Explore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40680" y="40142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panels: Source (write code), Console (run code), Environment (variables), Files/Plots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9F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136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Always write code in a Script file (File → New File → R Script) and save it — not directly in the Console. This way you can re-run everything later.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 Concepts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960120"/>
            <a:ext cx="6858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96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3950208" cy="822960"/>
          </a:xfrm>
          <a:prstGeom prst="roundRect">
            <a:avLst>
              <a:gd name="adj" fmla="val 6667"/>
            </a:avLst>
          </a:prstGeom>
          <a:solidFill>
            <a:srgbClr val="1E28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gene_name &lt;- "TP53"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expression_level &lt;- 12.5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is_significant &lt;- TRUE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30428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&lt;- to assign. R is case-sensitive.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960120"/>
            <a:ext cx="68580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996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1389888"/>
            <a:ext cx="3950208" cy="822960"/>
          </a:xfrm>
          <a:prstGeom prst="roundRect">
            <a:avLst>
              <a:gd name="adj" fmla="val 6667"/>
            </a:avLst>
          </a:prstGeom>
          <a:solidFill>
            <a:srgbClr val="1E28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 &lt;- c("TP53", "MKI67", "ESR1")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genes[1]  # "TP53"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genes[log2fc_values &gt; 1]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230428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c() combines values into a list.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926080"/>
            <a:ext cx="6858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" y="3355848"/>
            <a:ext cx="3950208" cy="822960"/>
          </a:xfrm>
          <a:prstGeom prst="roundRect">
            <a:avLst>
              <a:gd name="adj" fmla="val 6667"/>
            </a:avLst>
          </a:prstGeom>
          <a:solidFill>
            <a:srgbClr val="1E28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deg_table &lt;- data.frame(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gene=c("TP53","MKI67"),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log2FC=c(2.1, 3.4)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27024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R's version of a spreadsheet — the core data structure.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260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926080"/>
            <a:ext cx="685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73752" y="3355848"/>
            <a:ext cx="3950208" cy="822960"/>
          </a:xfrm>
          <a:prstGeom prst="roundRect">
            <a:avLst>
              <a:gd name="adj" fmla="val 6667"/>
            </a:avLst>
          </a:prstGeom>
          <a:solidFill>
            <a:srgbClr val="1E28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mean(c(2,4,6))   #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length(genes)    # 3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square_it &lt;- function(x) x*x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square_it(5)  # 25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73752" y="427024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+ write your own.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Key Glossary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Packages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E2833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44752"/>
            <a:ext cx="3895344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Regular packages (CRAN)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install.packages("ggplot2")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Bioinformatics packages (Bioconductor)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(!require("BiocManager", quietly=TRUE))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install.packages("BiocManager")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BiocManager::install("DESeq2")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BiocManager::install("TCGAbiolinks")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library(DESeq2); library(TCGAbiolinks)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9F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387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DESeq2 and TCGAbiolinks are Bioconductor packages — they require BiocManager::install(), not install.packages().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Glossary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sequencing output file (reads + quality scores)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75564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37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16752" y="18379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Stabilizing Transformation — normalizes count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22199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042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16752" y="2304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fold change — measure of expression difference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68833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77063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16752" y="2770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p-value — statistical significance corrected for multiple tests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3697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16752" y="32369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Differentially Expressed Gene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2102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7033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16752" y="3703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Technique — handles class imbalance in training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0873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1696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16752" y="4169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— reduces dimensions for visualization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55371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6360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16752" y="46360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(0–1) measuring binary classifier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Learning Order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R + RStudio, run print() and basic math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Practice variables, vectors, and data frames until comfortable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Learn functions and how to install/load packages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Practice reading and writing CSV files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Try a few ggplot2 plots on sample data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Install DESeq2 + TCGAbiolinks and start Module 1 of Project 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274320"/>
            <a:ext cx="3429000" cy="4572000"/>
          </a:xfrm>
          <a:prstGeom prst="roundRect">
            <a:avLst>
              <a:gd name="adj" fmla="val 3733"/>
            </a:avLst>
          </a:prstGeom>
          <a:solidFill>
            <a:srgbClr val="0B20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0" y="5029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96012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memorize everything.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coding is mostly about knowing what's possible and looking up syntax when needed.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understanding the logic of each step in the pipeline.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32120" y="3291840"/>
            <a:ext cx="315468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3977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Abhishek Sengupta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SBDA Lab  ·  Amity University Noida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USRF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1680</Words>
  <Application>Microsoft Office PowerPoint</Application>
  <PresentationFormat>On-screen Show (16:9)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BRCA RNA-seq Project — From Zero to Genomics + ML</dc:title>
  <dc:subject>PptxGenJS Presentation</dc:subject>
  <dc:creator>SBDA Lab, Amity University</dc:creator>
  <cp:lastModifiedBy>Gunika Nagpal</cp:lastModifiedBy>
  <cp:revision>2</cp:revision>
  <dcterms:created xsi:type="dcterms:W3CDTF">2026-06-11T19:32:03Z</dcterms:created>
  <dcterms:modified xsi:type="dcterms:W3CDTF">2026-06-12T07:13:39Z</dcterms:modified>
</cp:coreProperties>
</file>