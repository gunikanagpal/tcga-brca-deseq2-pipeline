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B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TCGA-BRCA DESeq2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280160"/>
            <a:ext cx="8229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TCGA-BRCA DESeq2 Pipeline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28346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Line-by-Line Code Notes | Tumor vs Normal | recount3 + DESeq2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3A6E"/>
          </a:solidFill>
          <a:ln w="12700">
            <a:solidFill>
              <a:srgbClr val="0C7C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1,249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5720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560320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3A6E"/>
          </a:solidFill>
          <a:ln w="12700">
            <a:solidFill>
              <a:srgbClr val="0C7C8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56032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63,856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256032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663440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3A6E"/>
          </a:solidFill>
          <a:ln w="12700">
            <a:solidFill>
              <a:srgbClr val="0C7C8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10,683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66344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DEGs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766560" y="3520440"/>
            <a:ext cx="1920240" cy="1005840"/>
          </a:xfrm>
          <a:prstGeom prst="roundRect">
            <a:avLst>
              <a:gd name="adj" fmla="val 9091"/>
            </a:avLst>
          </a:prstGeom>
          <a:solidFill>
            <a:srgbClr val="1E3A6E"/>
          </a:solidFill>
          <a:ln w="12700">
            <a:solidFill>
              <a:srgbClr val="0C7C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66560" y="354787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66560" y="4005072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 Plots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Complete Pipeline — 17 Steps at a Glance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20040" y="68580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6858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0-1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645920" y="71323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&amp; load packages (BiocManager, recount3, DESeq2, ggplot2, pheatmap, ggrepel)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069848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9" name="Text 7"/>
          <p:cNvSpPr/>
          <p:nvPr/>
        </p:nvSpPr>
        <p:spPr>
          <a:xfrm>
            <a:off x="320040" y="106984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2-3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645920" y="109728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 TCGA-BRCA in recount3 → Download RSE object (1,256 samples × 63,856 genes)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20040" y="1453896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12" name="Text 10"/>
          <p:cNvSpPr/>
          <p:nvPr/>
        </p:nvSpPr>
        <p:spPr>
          <a:xfrm>
            <a:off x="320040" y="145389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645920" y="148132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transform_counts() → convert coverage to TRUE raw integer counts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0040" y="1837944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15" name="Text 13"/>
          <p:cNvSpPr/>
          <p:nvPr/>
        </p:nvSpPr>
        <p:spPr>
          <a:xfrm>
            <a:off x="320040" y="18379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4b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645920" y="186537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 BEFORE normalization (QC baseline)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21992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18" name="Text 16"/>
          <p:cNvSpPr/>
          <p:nvPr/>
        </p:nvSpPr>
        <p:spPr>
          <a:xfrm>
            <a:off x="320040" y="222199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5-6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645920" y="224942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Decode TCGA barcodes (chars 14-15) → separate Tumor (01) vs Normal (11) → build coldata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260604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260604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7-8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645920" y="263347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DESeqDataSet object → filter low-expression genes (~63k → ~39k genes)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0040" y="2990088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24" name="Text 22"/>
          <p:cNvSpPr/>
          <p:nvPr/>
        </p:nvSpPr>
        <p:spPr>
          <a:xfrm>
            <a:off x="320040" y="299008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645920" y="301752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DESeq() — normalization + dispersion estimation + Negative Binomial GLM + Wald test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3374136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" y="337413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9b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645920" y="34015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Boxplot AFTER normalization (VST) — confirm boxes now align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58184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30" name="Text 28"/>
          <p:cNvSpPr/>
          <p:nvPr/>
        </p:nvSpPr>
        <p:spPr>
          <a:xfrm>
            <a:off x="320040" y="375818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10-11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645920" y="378561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results → apply dual filter: padj &lt; 0.05 AND |log2FC| &gt; 1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20040" y="4142232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33" name="Text 31"/>
          <p:cNvSpPr/>
          <p:nvPr/>
        </p:nvSpPr>
        <p:spPr>
          <a:xfrm>
            <a:off x="320040" y="414223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645920" y="416966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DEG CSV (gene | log2FC | padj | UP/DOWN)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4526280"/>
            <a:ext cx="1234440" cy="329184"/>
          </a:xfrm>
          <a:prstGeom prst="roundRect">
            <a:avLst>
              <a:gd name="adj" fmla="val 13889"/>
            </a:avLst>
          </a:prstGeom>
          <a:solidFill>
            <a:srgbClr val="2E6BB0"/>
          </a:solidFill>
          <a:ln/>
        </p:spPr>
      </p:sp>
      <p:sp>
        <p:nvSpPr>
          <p:cNvPr id="36" name="Text 34"/>
          <p:cNvSpPr/>
          <p:nvPr/>
        </p:nvSpPr>
        <p:spPr>
          <a:xfrm>
            <a:off x="320040" y="452628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13-16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645920" y="4553712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 4 plots: Volcano, PCA, Heatmap (top 25 DEGs), MA plot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Section 0 — Key Concepts You Must Know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Theory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74320" y="8686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84048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TCGA-BRCA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84048" y="1280160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Cancer Genome Atlas — Breast Cancer dataset. 1,249 real patient samples with RNA-seq data from both tumor and normal breast tissue.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00400" y="8686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10128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RNA-seq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10128" y="1280160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Measures which genes are ACTIVE and HOW MUCH. Output = a matrix: rows = ~20,000 genes, columns = samples, values = read counts.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6126480" y="86868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36208" y="9601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Raw Count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36208" y="1280160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whole integer (0, 47, 832...) showing how many RNA reads mapped to a gene. DESeq2 REQUIRES integers — not FPKM/TPM.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7432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84048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log2FC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84048" y="3154680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log2(Tumor / Normal). log2FC = 1 means 2x higher in Tumor. log2FC = -1 means 2x LOWER in Tumor. Threshold: |log2FC| &gt; 1.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200400" y="27432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310128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padj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10128" y="3154680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BH-adjusted p-value. Controls false discovery rate when testing ~20,000 genes. padj &lt; 0.05 = significant.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2743200"/>
            <a:ext cx="2788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  <a:effectLst>
            <a:outerShdw sx="100000" sy="100000" kx="0" ky="0" algn="bl" rotWithShape="0" blurRad="50800" dist="25400" dir="27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236208" y="283464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236208" y="3154680"/>
            <a:ext cx="257860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Differentially Expressed Gene. BOTH padj &lt; 0.05 AND |log2FC| &gt; 1 required. UP = higher in Tumor. DOWN = lower in Tumor.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 &amp; 1 — Install &amp; Load Packages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Basics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0: Install (run ONCE ever)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2015338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192389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(!requireNamespace("BiocManager", quietly=T))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5378" y="960120"/>
            <a:ext cx="328818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08530" y="960120"/>
            <a:ext cx="317845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IF BiocManager is NOT already installed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344168"/>
            <a:ext cx="2015338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44168"/>
            <a:ext cx="192389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install.packages("BiocManager")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35378" y="1344168"/>
            <a:ext cx="328818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08530" y="1344168"/>
            <a:ext cx="317845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missing: install BiocManager (CRAN installer for Bioc packages)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728216"/>
            <a:ext cx="2015338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728216"/>
            <a:ext cx="192389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BiocManager::install("recount3", update=F, ask=F)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335378" y="1728216"/>
            <a:ext cx="328818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08530" y="1728216"/>
            <a:ext cx="317845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:: = use install() from BiocManager. update/ask=FALSE = silent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112264"/>
            <a:ext cx="2015338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112264"/>
            <a:ext cx="192389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BiocManager::install("DESeq2", update=F, ask=F)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2335378" y="2112264"/>
            <a:ext cx="328818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08530" y="2112264"/>
            <a:ext cx="317845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DESeq2 from Bioconductor repository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496312"/>
            <a:ext cx="2015338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96312"/>
            <a:ext cx="1923898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install.packages("ggplot2"/"pheatmap"/"ggrepel")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2335378" y="2496312"/>
            <a:ext cx="3288182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08530" y="2496312"/>
            <a:ext cx="3178454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 plotting packages from CRAN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806440" y="658368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1: Load (run EVERY session)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5760720" y="960120"/>
            <a:ext cx="1164031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806440" y="960120"/>
            <a:ext cx="107259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library(recount3)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924751" y="960120"/>
            <a:ext cx="189920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97903" y="960120"/>
            <a:ext cx="178948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recount3 — enables available_projects(), create_rse()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760720" y="1344168"/>
            <a:ext cx="1164031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806440" y="1344168"/>
            <a:ext cx="107259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library(DESeq2)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924751" y="1344168"/>
            <a:ext cx="189920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997903" y="1344168"/>
            <a:ext cx="178948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DESeq2 — enables DESeq(), results(), vst(), plotMA()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5760720" y="1728216"/>
            <a:ext cx="1164031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806440" y="1728216"/>
            <a:ext cx="107259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library(ggplot2)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924751" y="1728216"/>
            <a:ext cx="189920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997903" y="1728216"/>
            <a:ext cx="178948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ggplot2 — enables ggplot(), geom_point(), ggsave()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760720" y="2112264"/>
            <a:ext cx="1164031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806440" y="2112264"/>
            <a:ext cx="107259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library(pheatmap)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924751" y="2112264"/>
            <a:ext cx="189920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97903" y="2112264"/>
            <a:ext cx="178948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pheatmap — enables pheatmap()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760720" y="2496312"/>
            <a:ext cx="1164031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806440" y="2496312"/>
            <a:ext cx="107259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library(ggrepel)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24751" y="2496312"/>
            <a:ext cx="1899209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997903" y="2496312"/>
            <a:ext cx="1789481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Activate ggrepel — enables geom_text_repel() for non-overlap labels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320040" y="2907792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2907792"/>
            <a:ext cx="8321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difference: install.packages() = download the tool (ONCE). library() = pick up the tool to use it today (EVERY SESSION).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320040" y="3401568"/>
            <a:ext cx="8503920" cy="457200"/>
          </a:xfrm>
          <a:prstGeom prst="roundRect">
            <a:avLst>
              <a:gd name="adj" fmla="val 14000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29768" y="3401568"/>
            <a:ext cx="8321040" cy="4572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BiocManager? DESeq2 and recount3 are on Bioconductor — a separate repository from CRAN. BiocManager is the bridge that knows how to install Bioconductor packages with correct version matching.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 &amp; 3 — Find &amp; Download TCGA-BRCA Data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Acquisition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2: Find the project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3268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human_projects &lt;- available_projects()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1530" y="93268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4682" y="93268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Download catalogue of ALL recount3 datasets into human_projects variable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brca_project &lt;- subset(human_projects,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51530" y="129844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4682" y="129844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subset() filters rows. Keep rows matching BOTH conditions below: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6420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6420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 == "BRCA" &amp;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51530" y="166420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4682" y="166420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== checks equality. project column must equal "BRCA"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02996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02996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project_home == "data_sources/tcga")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51530" y="202996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4682" y="202996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&amp; = AND. Must also be from TCGA (not GTEx or other sources)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39572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39572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print(brca_project)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51530" y="239572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4682" y="239572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the 1 matching row — confirms we found the right dataset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0040" y="28163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3: Download data (takes 5-15 minutes)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090672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3090672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rse &lt;- create_rse(brca_project)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551530" y="3090672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24682" y="3090672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create_rse() downloads ALL expression data. Result = RSE object stored in rse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3456432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3456432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nrow(rse)  -&gt;  63,856 genes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551530" y="3456432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24682" y="3456432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nrow() = number of rows. Confirms 63,856 genes downloaded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20040" y="3822192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3822192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ncol(rse)  -&gt;  1,256 samples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551530" y="3822192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24682" y="3822192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ncol() = number of columns. Confirms 1,256 patient samples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320040" y="4206240"/>
            <a:ext cx="8503920" cy="411480"/>
          </a:xfrm>
          <a:prstGeom prst="roundRect">
            <a:avLst>
              <a:gd name="adj" fmla="val 15556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29768" y="4206240"/>
            <a:ext cx="8321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RSE object = a structured box holding (1) the count matrix, (2) gene annotations (chromosome, name), and (3) sample metadata (patient ID, tumor stage). All three are automatically aligned.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 — Convert to True Raw Integer Counts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 Step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step exists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8503920" cy="502920"/>
          </a:xfrm>
          <a:prstGeom prst="roundRect">
            <a:avLst>
              <a:gd name="adj" fmla="val 12727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9768" y="932688"/>
            <a:ext cx="832104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recount3 internally stores data as COVERAGE (base-level read depth sums) — NOT standard gene-level counts. We must convert to integers before DESeq2 can use them.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0040" y="1508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Code: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783080"/>
            <a:ext cx="3231490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783080"/>
            <a:ext cx="314005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assay(rse, "counts") &lt;- transform_counts(rse)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551530" y="1783080"/>
            <a:ext cx="52724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24682" y="1783080"/>
            <a:ext cx="516270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transform_counts() converts coverage to whole-number gene counts. Stored as new "counts" layer inside rse.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2167128"/>
            <a:ext cx="3231490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167128"/>
            <a:ext cx="314005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&lt;- assay(rse, "counts")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51530" y="2167128"/>
            <a:ext cx="52724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4682" y="2167128"/>
            <a:ext cx="516270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the count matrix from rse into a plain variable called "counts"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551176"/>
            <a:ext cx="3231490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551176"/>
            <a:ext cx="314005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print(counts[1:3, 1:3])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51530" y="2551176"/>
            <a:ext cx="52724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4682" y="2551176"/>
            <a:ext cx="516270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[1:3, 1:3] = rows 1-3, cols 1-3. SANITY CHECK: values must be integers (0, 47, 832) — NOT decimals like 0.93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0040" y="2944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raw counts matter: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0040" y="3218688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Counts (integers)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11480" y="3566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0, 47, 832, 10304...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Negative Binomial model works correctly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246120" y="3218688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3756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FPKM / TPM (decimals)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337560" y="3566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0.93, 14.72, 847.3...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Violates DESeq2 assumptions — WRONG RESULTS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6172200" y="3218688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63640" y="327355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 vs recount3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3566160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GSE183947 (GEO) gives FPKM.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recount3 gives true raw counts — use recount3!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4b — QC Boxplot (Before Normalization)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Quality Control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Purpose: Visualize raw data distribution across samples before any normalization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96012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6012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log_counts_raw &lt;- log2(counts + 1)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1530" y="96012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4682" y="96012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log2 transform. +1 avoids log2(0)=-Infinity. Count 0 maps to 0. Count 1000 maps to ~10.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32588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32588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png("results/boxplot_raw...", w=1200, h=600)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51530" y="132588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4682" y="132588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PNG file. R draws next plot INTO this file instead of screen.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9164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9164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boxplot(log_counts_raw[, 1:50], las=2, cex.axis=0.5)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51530" y="169164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4682" y="169164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[,1:50] = first 50 samples only. las=2 rotates labels. cex.axis=0.5 = half font size.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205740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205740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 = "lightblue")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551530" y="205740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24682" y="205740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Blue fill for boxes — visually distinct from the AFTER plot (lightcoral).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242316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242316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dev.off()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551530" y="242316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24682" y="242316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CRITICAL: closes and SAVES the PNG file. Without this, file is empty.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834640"/>
            <a:ext cx="4114800" cy="804672"/>
          </a:xfrm>
          <a:prstGeom prst="roundRect">
            <a:avLst>
              <a:gd name="adj" fmla="val 7955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834640"/>
            <a:ext cx="393192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BEFORE: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at DIFFERENT heights = normal!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sample has different sequencing depth.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Look for: similar box SHAPES (not heights).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dramatically different box = suspect sample.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572000" y="2834640"/>
            <a:ext cx="4251960" cy="804672"/>
          </a:xfrm>
          <a:prstGeom prst="roundRect">
            <a:avLst>
              <a:gd name="adj" fmla="val 7955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681728" y="2834640"/>
            <a:ext cx="4069080" cy="8046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you see AFTER (VST, Step 9b):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Boxes at ROUGHLY SAME height = normalization worked!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medians still vary hugely after normalization,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suspect a batch effect in your data.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20040" y="3730752"/>
            <a:ext cx="8503920" cy="411480"/>
          </a:xfrm>
          <a:prstGeom prst="roundRect">
            <a:avLst>
              <a:gd name="adj" fmla="val 15556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29768" y="3730752"/>
            <a:ext cx="8321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png() + dev.off() always go together. png() opens the graphics device (the file). dev.off() closes it and flushes the data. Missing dev.off() = empty file.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5 — Separate Tumor &amp; Normal via TCGA Barcodes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Classification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713232"/>
            <a:ext cx="8503920" cy="457200"/>
          </a:xfrm>
          <a:prstGeom prst="rect">
            <a:avLst/>
          </a:prstGeom>
          <a:solidFill>
            <a:srgbClr val="F1F3F7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71323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Example barcode:  TCGA-A1-A0SK-01A-11R-A084-07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0040" y="128016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D6E8F7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TCGA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2004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TCGA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828800" y="128016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D0EFF2"/>
          </a:solidFill>
          <a:ln/>
        </p:spPr>
      </p:sp>
      <p:sp>
        <p:nvSpPr>
          <p:cNvPr id="13" name="Text 11"/>
          <p:cNvSpPr/>
          <p:nvPr/>
        </p:nvSpPr>
        <p:spPr>
          <a:xfrm>
            <a:off x="182880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82880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Study/Institution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200400" y="1280160"/>
            <a:ext cx="1280160" cy="731520"/>
          </a:xfrm>
          <a:prstGeom prst="roundRect">
            <a:avLst>
              <a:gd name="adj" fmla="val 8750"/>
            </a:avLst>
          </a:prstGeom>
          <a:solidFill>
            <a:srgbClr val="FEF4E2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129844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A0SK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164592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ID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572000" y="1280160"/>
            <a:ext cx="2468880" cy="731520"/>
          </a:xfrm>
          <a:prstGeom prst="roundRect">
            <a:avLst>
              <a:gd name="adj" fmla="val 8750"/>
            </a:avLst>
          </a:prstGeom>
          <a:solidFill>
            <a:srgbClr val="FCDED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1298448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(chars 14-15)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572000" y="164592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TYPE (we extract this!)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223760" y="1280160"/>
            <a:ext cx="1600200" cy="731520"/>
          </a:xfrm>
          <a:prstGeom prst="roundRect">
            <a:avLst>
              <a:gd name="adj" fmla="val 8750"/>
            </a:avLst>
          </a:prstGeom>
          <a:solidFill>
            <a:srgbClr val="F1F3F7"/>
          </a:solidFill>
          <a:ln/>
        </p:spPr>
      </p:sp>
      <p:sp>
        <p:nvSpPr>
          <p:cNvPr id="22" name="Text 20"/>
          <p:cNvSpPr/>
          <p:nvPr/>
        </p:nvSpPr>
        <p:spPr>
          <a:xfrm>
            <a:off x="7223760" y="1298448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C5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A/11R/...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223760" y="164592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info (ignored)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20040" y="21488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5ED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-&gt;  Primary Solid Tumor — KEEP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21488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E8F5ED"/>
          </a:solidFill>
          <a:ln/>
        </p:spPr>
      </p:sp>
      <p:sp>
        <p:nvSpPr>
          <p:cNvPr id="27" name="Text 25"/>
          <p:cNvSpPr/>
          <p:nvPr/>
        </p:nvSpPr>
        <p:spPr>
          <a:xfrm>
            <a:off x="320040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-&gt;  Solid Tissue Normal — KEEP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080760" y="2148840"/>
            <a:ext cx="2651760" cy="384048"/>
          </a:xfrm>
          <a:prstGeom prst="roundRect">
            <a:avLst>
              <a:gd name="adj" fmla="val 14286"/>
            </a:avLst>
          </a:prstGeom>
          <a:solidFill>
            <a:srgbClr val="FCDEDE"/>
          </a:solidFill>
          <a:ln/>
        </p:spPr>
      </p:sp>
      <p:sp>
        <p:nvSpPr>
          <p:cNvPr id="29" name="Text 27"/>
          <p:cNvSpPr/>
          <p:nvPr/>
        </p:nvSpPr>
        <p:spPr>
          <a:xfrm>
            <a:off x="6080760" y="2148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-&gt;  Metastatic — EXCLUDE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20040" y="265176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265176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meta &lt;- colData(rse)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551530" y="265176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24682" y="265176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sample metadata table from RSE object (patient IDs, tumor types, etc.)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01752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01752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sample_type &lt;- substr(meta$tcga.tcga_barcode, 14, 15)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3551530" y="301752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24682" y="301752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substr(string, 14, 15) extracts characters 14 and 15 from every barcode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338328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38328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keep_samples &lt;- sample_type %in% c("01", "11")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3551530" y="338328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24682" y="338328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%in% = membership check. TRUE if sample_type is "01" OR "11"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320040" y="3749040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65760" y="3749040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counts &lt;- counts[, keep_samples]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51530" y="3749040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624682" y="3749040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[, keep_samples] filters columns. Keeps Tumor+Normal, drops Metastatic "06"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20040" y="4325112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29768" y="4325112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Result: 1,135 Tumor samples (01) + 114 Normal samples (11) = 1,249 samples. 7 Metastatic (06) samples removed.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 &amp; 7 — Build colData &amp; Create DESeq2 Object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DESeq2 Setup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6: Build the sample group table (colData)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3268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&lt;- ifelse(sample_type=="11", "Normal", "Tumor")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1530" y="93268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4682" y="93268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ifelse() is vectorized IF-ELSE. "11" maps to "Normal", else maps to "Tumor"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coldata &lt;- data.frame(row.names = colnames(counts),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51530" y="129844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4682" y="129844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data.frame() creates a table. row.names = sample IDs links coldata to counts.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6420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6420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Condition = factor(condition, levels=c("Normal","Tumor")))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551530" y="166420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24682" y="166420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factor() makes categorical variable. levels ORDER matters: Normal FIRST = reference.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20040" y="1691640"/>
            <a:ext cx="8503920" cy="411480"/>
          </a:xfrm>
          <a:prstGeom prst="roundRect">
            <a:avLst>
              <a:gd name="adj" fmla="val 15556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" y="1691640"/>
            <a:ext cx="8321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Normal must be FIRST: DESeq2 computes log2FC = second level / first level. Normal first -&gt; Tumor second -&gt; positive log2FC = higher in Tumor. If reversed, all signs would FLIP.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22128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7: Create DESeqDataSet object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248716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48716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dds &lt;- DESeqDataSetFromMatrix(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51530" y="248716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4682" y="248716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counts + coldata into DESeq2's native object. Stored in dds.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285292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285292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countData = counts,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51530" y="285292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4682" y="285292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raw integer count matrix (genes x samples)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21868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21868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colData = coldata,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51530" y="321868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24682" y="321868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sample information table — links each sample to its group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358444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358444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design = ~ Condition)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551530" y="358444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24682" y="358444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 Condition = the formula. "Model expression as a function of Condition"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320040" y="3986784"/>
            <a:ext cx="8503920" cy="411480"/>
          </a:xfrm>
          <a:prstGeom prst="roundRect">
            <a:avLst>
              <a:gd name="adj" fmla="val 15556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29768" y="3986784"/>
            <a:ext cx="8321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~ (tilde) is R's formula operator. ~ Condition means 'test each gene's expression as a function of the Condition column'. More complex: ~ Batch + Condition adds batch correction.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 — Filter Genes  |  Step 9 — Run DESeq2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Analysis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8: Remove low-expression genes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3268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keep &lt;- rowSums(counts(dds) &gt;= 10) &gt;= 3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1530" y="93268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4682" y="93268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counts(dds) extracts matrix. &gt;=10 = TRUE/FALSE per cell. rowSums() counts TRUEs per gene. &gt;=3 = keep if 3+ samples have 10+ reads.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dds &lt;- dds[keep, ]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551530" y="129844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24682" y="129844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[keep, ] filters rows (genes). Empty after comma = keep ALL samples. Result: ~63k -&gt; ~39k genes.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9164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691640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Filter logic: A gene must have 10+ reads in at least 3 samples. Genes with near-zero counts in almost all samples cannot give reliable statistics — removing them speeds up analysis.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" y="217627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9: Run DESeq2 (~10-20 minutes)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2450592"/>
            <a:ext cx="3231490" cy="347472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50592"/>
            <a:ext cx="314005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dds &lt;- DESeq(dds)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51530" y="2450592"/>
            <a:ext cx="527243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4682" y="2450592"/>
            <a:ext cx="5162702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function does everything internally. Overwrites dds with results object.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944368"/>
            <a:ext cx="16002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68680" y="2999232"/>
            <a:ext cx="502920" cy="384048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6868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84048" y="34198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Size Factors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384048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sequencing depth per sample — normalize for library size differences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057400" y="2944368"/>
            <a:ext cx="16002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606040" y="2999232"/>
            <a:ext cx="502920" cy="384048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0604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2121408" y="34198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Dispersion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2121408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 gene-wise variability. High variance genes need stronger evidence to be significant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794760" y="2944368"/>
            <a:ext cx="16002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343400" y="2999232"/>
            <a:ext cx="502920" cy="384048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3858768" y="34198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NB GLM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858768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Fit Negative Binomial Generalized Linear Model to each gene's count data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5532120" y="2944368"/>
            <a:ext cx="16002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80760" y="2999232"/>
            <a:ext cx="502920" cy="384048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08076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5596128" y="34198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Wald Test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596128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H0: log2FC = 0 for each gene — p-value for each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7269480" y="2944368"/>
            <a:ext cx="1600200" cy="1481328"/>
          </a:xfrm>
          <a:prstGeom prst="roundRect">
            <a:avLst>
              <a:gd name="adj" fmla="val 6173"/>
            </a:avLst>
          </a:prstGeom>
          <a:solidFill>
            <a:srgbClr val="FFFFFF"/>
          </a:solidFill>
          <a:ln w="12700">
            <a:solidFill>
              <a:srgbClr val="CBD5E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818120" y="2999232"/>
            <a:ext cx="502920" cy="384048"/>
          </a:xfrm>
          <a:prstGeom prst="ellipse">
            <a:avLst/>
          </a:prstGeom>
          <a:solidFill>
            <a:srgbClr val="2E6BB0"/>
          </a:solidFill>
          <a:ln w="12700">
            <a:solidFill>
              <a:srgbClr val="2E6BB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818120" y="299923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7333488" y="3419856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E6BB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BH Correction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7333488" y="3712464"/>
            <a:ext cx="1481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Benjamini-Hochberg adjusts all p-values for multiple testing — padj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320040" y="4526280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29768" y="4526280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1,249 samples DESeq2 has enormous statistical power — even tiny 5% changes can reach padj &lt; 0.0001. This is exactly WHY we add the |log2FC| &gt; 1 biological filter in Step 11.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 &amp; 11 — Extract Results &amp; Apply DEG Filter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CDEDE"/>
          </a:solidFill>
          <a:ln w="12700">
            <a:solidFill>
              <a:srgbClr val="FCDED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A32D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Key Step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10: Extract results table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3231490" cy="32918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32688"/>
            <a:ext cx="3140050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 &lt;- results(dds, contrast=c("Condition","Tumor","Normal"), alpha=0.05)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551530" y="932688"/>
            <a:ext cx="5272430" cy="32918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24682" y="932688"/>
            <a:ext cx="5162702" cy="32918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contrast = c(column, numerator, denominator) -&gt; log2FC = log2(Tumor/Normal). Positive = higher in Tumor.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335024"/>
            <a:ext cx="8503920" cy="347472"/>
          </a:xfrm>
          <a:prstGeom prst="roundRect">
            <a:avLst>
              <a:gd name="adj" fmla="val 18421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9768" y="1335024"/>
            <a:ext cx="8321040" cy="3474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 columns: baseMean (avg expression), log2FoldChange, lfcSE (std error), stat, pvalue, padj — one row per gene.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20040" y="18013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11: Apply DUAL filter — THE KEY STEP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20040" y="2084832"/>
            <a:ext cx="3231490" cy="310896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2084832"/>
            <a:ext cx="314005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res_df &lt;- as.data.frame(res)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51530" y="2084832"/>
            <a:ext cx="527243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24682" y="2084832"/>
            <a:ext cx="516270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 DESeq2 results to regular R data frame for easy manipulation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432304"/>
            <a:ext cx="3231490" cy="310896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432304"/>
            <a:ext cx="314005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res_df$status &lt;- "NS"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551530" y="2432304"/>
            <a:ext cx="527243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24682" y="2432304"/>
            <a:ext cx="516270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Start: label ALL genes as "NS" (Not Significant) — default assumption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779776"/>
            <a:ext cx="3231490" cy="310896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779776"/>
            <a:ext cx="314005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res_df$status[ !is.na(padj) &amp; padj&lt;0.05 &amp; log2FC&gt;1 ] &lt;- "UP"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551530" y="2779776"/>
            <a:ext cx="527243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24682" y="2779776"/>
            <a:ext cx="516270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!is.na() = not missing. padj&lt;0.05 AND log2FC&gt;1 BOTH must be true -&gt; label "UP"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127248"/>
            <a:ext cx="3231490" cy="310896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127248"/>
            <a:ext cx="314005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res_df$status[ !is.na(padj) &amp; padj&lt;0.05 &amp; log2FC&lt; -1 ] &lt;- "DOWN"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551530" y="3127248"/>
            <a:ext cx="527243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24682" y="3127248"/>
            <a:ext cx="516270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logic but log2FC &lt; -1 (2-fold lower in Tumor) -&gt; label "DOWN"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474720"/>
            <a:ext cx="3231490" cy="310896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474720"/>
            <a:ext cx="3140050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print(table(res_df$status))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551530" y="3474720"/>
            <a:ext cx="527243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24682" y="3474720"/>
            <a:ext cx="5162702" cy="31089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Shows final count: UP, DOWN, NS. THIS is the DEG count you report.</a:t>
            </a:r>
            <a:endParaRPr lang="en-US" sz="9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931920"/>
          <a:ext cx="8503920" cy="804672"/>
        </p:xfrm>
        <a:graphic>
          <a:graphicData uri="http://schemas.openxmlformats.org/drawingml/2006/table">
            <a:tbl>
              <a:tblPr/>
              <a:tblGrid>
                <a:gridCol w="2926080"/>
                <a:gridCol w="1828800"/>
                <a:gridCol w="1371600"/>
                <a:gridCol w="2377440"/>
              </a:tblGrid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Filter Applied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DEGs Found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% of Genes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Verdict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C5B"/>
                    </a:solidFill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padj &lt; 0.05 ONLY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28,565 / 39,467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A32D2D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Biologically implausible!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682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padj &lt; 0.05 AND |log2FC| &gt; 1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10,683 / 39,467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27%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2A6B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Standard — use this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 — Save CSV  |  Step 13 — Volcano Plot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12: Save DEGs to CSV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41832"/>
            <a:ext cx="1598371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941832"/>
            <a:ext cx="1506931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res_ordered &lt;- res_df[order(res_df$padj), ]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1918411" y="941832"/>
            <a:ext cx="260786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991563" y="941832"/>
            <a:ext cx="2498141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order() sorts by padj ascending (most significant first)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1298448"/>
            <a:ext cx="1598371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1298448"/>
            <a:ext cx="1506931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deg_only &lt;- subset(res_ordered, status %in% c("UP","DOWN"))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1918411" y="1298448"/>
            <a:ext cx="260786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91563" y="1298448"/>
            <a:ext cx="2498141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only DEGs — drop all "NS" genes from export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1655064"/>
            <a:ext cx="1598371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655064"/>
            <a:ext cx="1506931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write.csv(deg_report, "results/DEG_results...csv", row.names=F)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1918411" y="1655064"/>
            <a:ext cx="2607869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991563" y="1655064"/>
            <a:ext cx="2498141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CSV with 4 columns: gene, log2FC, padj, status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709160" y="6583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13: Volcano Plot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941832"/>
            <a:ext cx="1580998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9160" y="941832"/>
            <a:ext cx="148955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ggplot(res_df, aes(x=log2FoldChange, y=-log10(padj), color=status))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244438" y="941832"/>
            <a:ext cx="257952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17590" y="941832"/>
            <a:ext cx="246979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fold change, y = -log10(padj) flips scale (small padj = HIGH on plot), color by UP/DOWN/NS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663440" y="1298448"/>
            <a:ext cx="1580998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9160" y="1298448"/>
            <a:ext cx="148955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geom_point(alpha=0.5, size=1)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244438" y="1298448"/>
            <a:ext cx="257952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17590" y="1298448"/>
            <a:ext cx="246979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 dots. alpha=0.5 = 50% transparent (20k dots would overlap)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663440" y="1655064"/>
            <a:ext cx="1580998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1655064"/>
            <a:ext cx="148955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scale_color_manual(values=c("UP"="red","DOWN"="blue","NS"="grey70"))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44438" y="1655064"/>
            <a:ext cx="257952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17590" y="1655064"/>
            <a:ext cx="246979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Manually set: UP=red, DOWN=blue, NS=grey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63440" y="2011680"/>
            <a:ext cx="1580998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09160" y="2011680"/>
            <a:ext cx="148955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geom_text_repel(data=top10, aes(label=gene))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244438" y="2011680"/>
            <a:ext cx="257952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17590" y="2011680"/>
            <a:ext cx="246979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only top 10 most significant genes. geom_text_repel avoids overlapping labels.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63440" y="2368296"/>
            <a:ext cx="1580998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09160" y="2368296"/>
            <a:ext cx="148955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geom_vline(xintercept=c(-1,1), linetype="dashed")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6244438" y="2368296"/>
            <a:ext cx="257952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317590" y="2368296"/>
            <a:ext cx="246979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vertical lines at +/-1 = fold change boundaries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663440" y="2724912"/>
            <a:ext cx="1580998" cy="3200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709160" y="2724912"/>
            <a:ext cx="1489558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geom_hline(yintercept=-log10(0.05), linetype="dashed")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244438" y="2724912"/>
            <a:ext cx="2579522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17590" y="2724912"/>
            <a:ext cx="2469794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Dashed horizontal line at padj=0.05 boundary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20040" y="3127248"/>
            <a:ext cx="4206240" cy="685800"/>
          </a:xfrm>
          <a:prstGeom prst="roundRect">
            <a:avLst>
              <a:gd name="adj" fmla="val 9333"/>
            </a:avLst>
          </a:prstGeom>
          <a:solidFill>
            <a:srgbClr val="E8F5ED"/>
          </a:solidFill>
          <a:ln w="12700">
            <a:solidFill>
              <a:srgbClr val="E8F5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9768" y="3127248"/>
            <a:ext cx="402336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CSV output: 10,683 rows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Columns: gene | log2FoldChange | padj | status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Sorted: most significant gene first.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663440" y="3127248"/>
            <a:ext cx="4160520" cy="685800"/>
          </a:xfrm>
          <a:prstGeom prst="roundRect">
            <a:avLst>
              <a:gd name="adj" fmla="val 9333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73168" y="3127248"/>
            <a:ext cx="3977640" cy="68580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Volcano plot: named 'volcano' because it looks like an eruption. Upper-right = UP DEGs (red). Upper-left = DOWN DEGs (blue). Bottom center = NS (grey).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320040" y="3913632"/>
            <a:ext cx="8503920" cy="411480"/>
          </a:xfrm>
          <a:prstGeom prst="roundRect">
            <a:avLst>
              <a:gd name="adj" fmla="val 15556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29768" y="3913632"/>
            <a:ext cx="832104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-log10(padj) on y-axis: padj=0.001 -&gt; -log10(0.001) = 3. padj=0.05 -&gt; -log10(0.05) = 1.3. SMALLER padj = BIGGER y = HIGHER on plot = MORE significant.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14, 15, 16 — PCA, Heatmap &amp; MA Plot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D0EFF2"/>
          </a:solidFill>
          <a:ln w="12700">
            <a:solidFill>
              <a:srgbClr val="D0EFF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Visualization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65836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14 — PCA Plot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932688"/>
            <a:ext cx="3749040" cy="10058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950976"/>
            <a:ext cx="361188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vsd &lt;- vst(dds, blind=FALSE)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plotPCA(vsd, intgroup='Condition')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ggtitle(...) + theme_bw()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ggsave('results/PCA_TCGA.png')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206240" y="932688"/>
            <a:ext cx="4617720" cy="1005840"/>
          </a:xfrm>
          <a:prstGeom prst="roundRect">
            <a:avLst>
              <a:gd name="adj" fmla="val 6364"/>
            </a:avLst>
          </a:prstGeom>
          <a:solidFill>
            <a:srgbClr val="D0EFF2"/>
          </a:solidFill>
          <a:ln/>
        </p:spPr>
      </p:sp>
      <p:sp>
        <p:nvSpPr>
          <p:cNvPr id="11" name="Text 9"/>
          <p:cNvSpPr/>
          <p:nvPr/>
        </p:nvSpPr>
        <p:spPr>
          <a:xfrm>
            <a:off x="4315968" y="950976"/>
            <a:ext cx="448056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PCA collapses ~20,000 gene values per sample into 2 numbers (PC1, PC2). Good result: Tumor cluster SEPARATES from Normal. Some overlap is EXPECTED — multiple tumor subtypes (Luminal A/B, HER2+, Basal).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20040" y="207568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15 — Heatmap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2350008"/>
            <a:ext cx="3749040" cy="10058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68296"/>
            <a:ext cx="361188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top_n &lt;- 25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 &lt;- assay(vsd)[top_genes, 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 &lt;- mat - rowMeans(mat)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pheatmap(mat, annotation_col=anno,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cluster_rows=TRUE, cluster_cols=FALSE)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206240" y="2350008"/>
            <a:ext cx="4617720" cy="1005840"/>
          </a:xfrm>
          <a:prstGeom prst="roundRect">
            <a:avLst>
              <a:gd name="adj" fmla="val 6364"/>
            </a:avLst>
          </a:prstGeom>
          <a:solidFill>
            <a:srgbClr val="E8F5ED"/>
          </a:solidFill>
          <a:ln/>
        </p:spPr>
      </p:sp>
      <p:sp>
        <p:nvSpPr>
          <p:cNvPr id="16" name="Text 14"/>
          <p:cNvSpPr/>
          <p:nvPr/>
        </p:nvSpPr>
        <p:spPr>
          <a:xfrm>
            <a:off x="4315968" y="2368296"/>
            <a:ext cx="448056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A6B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Rows = genes, columns = samples. mat - rowMeans(mat) CENTERS each gene around zero. cluster_rows=TRUE groups genes with similar patterns. cluster_cols=FALSE keeps Tumor/Normal together.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493008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6BB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Step 16 — MA Plot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0040" y="3767328"/>
            <a:ext cx="3749040" cy="1005840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785616"/>
            <a:ext cx="361188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png('results/MA_TCGA.png')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plotMA(res, ylim=c(-5,5),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main='MA Plot: TCGA-BRCA')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dev.off()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206240" y="3767328"/>
            <a:ext cx="4617720" cy="1005840"/>
          </a:xfrm>
          <a:prstGeom prst="roundRect">
            <a:avLst>
              <a:gd name="adj" fmla="val 6364"/>
            </a:avLst>
          </a:prstGeom>
          <a:solidFill>
            <a:srgbClr val="FEF4E2"/>
          </a:solidFill>
          <a:ln/>
        </p:spPr>
      </p:sp>
      <p:sp>
        <p:nvSpPr>
          <p:cNvPr id="21" name="Text 19"/>
          <p:cNvSpPr/>
          <p:nvPr/>
        </p:nvSpPr>
        <p:spPr>
          <a:xfrm>
            <a:off x="4315968" y="3785616"/>
            <a:ext cx="448056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= average expression across all samples (log scale). y = log2 fold change. Blue dots = significant. Good MA plot: blue dots scattered ABOVE AND BELOW y=0 with a funnel shape.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818888"/>
            <a:ext cx="8503920" cy="256032"/>
          </a:xfrm>
          <a:prstGeom prst="roundRect">
            <a:avLst>
              <a:gd name="adj" fmla="val 25000"/>
            </a:avLst>
          </a:prstGeom>
          <a:solidFill>
            <a:srgbClr val="F1F3F7"/>
          </a:solidFill>
          <a:ln w="12700">
            <a:solidFill>
              <a:srgbClr val="F1F3F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4818888"/>
            <a:ext cx="8321040" cy="25603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plots use VST values (vst() output) for visualization. DESeq2 always uses RAW integer counts internally for statistics. VST is for human eyes only.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1A2C5B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Appendix — R Syntax Quick Reference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94360"/>
            <a:ext cx="2011680" cy="292608"/>
          </a:xfrm>
          <a:prstGeom prst="roundRect">
            <a:avLst>
              <a:gd name="adj" fmla="val 15625"/>
            </a:avLst>
          </a:prstGeom>
          <a:solidFill>
            <a:srgbClr val="FEF4E2"/>
          </a:solidFill>
          <a:ln w="12700">
            <a:solidFill>
              <a:srgbClr val="FEF4E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59436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7A48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 Basics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20040" y="68580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68580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&lt;-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1554480" y="68580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18488" y="68580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Assignment. x &lt;- 5 stores 5 in variable x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18872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8872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 /  ##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1554480" y="118872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18488" y="118872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Comment. R ignores everything after # on a line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20040" y="169164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9164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1554480" y="169164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18488" y="169164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Column access. meta$barcode gets the barcode column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0040" y="219456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219456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554480" y="219456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18488" y="219456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Index. matrix[rows, cols]. Blank = all. [, 1:50] = all rows, cols 1-50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20040" y="269748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269748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::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554480" y="269748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618488" y="269748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Package prefix. BiocManager::install() calls install() from BiocManager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20040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c()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1554480" y="320040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618488" y="320040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Combine. c(1,2,3) = vector. c('a','b') = character vector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20040" y="370332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370332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%in%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554480" y="370332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18488" y="370332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Membership. x %in% c('01','11') = TRUE if x is '01' or '11'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20040" y="420624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20624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!is.na()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554480" y="420624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618488" y="420624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missing. Returns TRUE for non-NA values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63440" y="68580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09160" y="68580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==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897880" y="68580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61888" y="68580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Equality check. x==5 asks 'is x equal to 5?' (single = assigns)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663440" y="118872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09160" y="118872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&amp;  /  |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897880" y="118872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61888" y="118872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/ OR (vectorized). a &amp; b = both true. a | b = either true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663440" y="169164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09160" y="169164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paste0()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897880" y="169164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961888" y="169164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Concat strings without separator. paste0('hello','world') = 'helloworld'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663440" y="219456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709160" y="219456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nrow() / ncol()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5897880" y="219456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961888" y="219456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Row count / column count of a matrix or data frame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4663440" y="269748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09160" y="269748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head(x, n)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5897880" y="269748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961888" y="269748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n elements/rows of x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4663440" y="320040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709160" y="320040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order(x)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5897880" y="320040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61888" y="320040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Indices that would sort x ascending (smallest first)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4663440" y="370332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09160" y="370332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rowMeans() / rowSums()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5897880" y="370332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961888" y="370332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Mean / sum of each row in a matrix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4663440" y="4206240"/>
            <a:ext cx="1234440" cy="420624"/>
          </a:xfrm>
          <a:prstGeom prst="rect">
            <a:avLst/>
          </a:prstGeom>
          <a:solidFill>
            <a:srgbClr val="FDF2F0"/>
          </a:solidFill>
          <a:ln w="12700">
            <a:solidFill>
              <a:srgbClr val="E8C5C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4709160" y="4206240"/>
            <a:ext cx="1143000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substr(str, 14, 15)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897880" y="4206240"/>
            <a:ext cx="310896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D8DDE8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61888" y="4206240"/>
            <a:ext cx="2999232" cy="42062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44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 characters 14 to 15 from a string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C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2E6BB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TCGA-BRCA DESeq2 Pipeline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82296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 Complete!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4813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D6E8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 folder should contain: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46320"/>
            <a:ext cx="9144000" cy="297180"/>
          </a:xfrm>
          <a:prstGeom prst="rect">
            <a:avLst/>
          </a:prstGeom>
          <a:solidFill>
            <a:srgbClr val="0C7C8C"/>
          </a:solidFill>
          <a:ln/>
        </p:spPr>
      </p:sp>
      <p:sp>
        <p:nvSpPr>
          <p:cNvPr id="7" name="Shape 5"/>
          <p:cNvSpPr/>
          <p:nvPr/>
        </p:nvSpPr>
        <p:spPr>
          <a:xfrm>
            <a:off x="365760" y="1828800"/>
            <a:ext cx="8412480" cy="438912"/>
          </a:xfrm>
          <a:prstGeom prst="rect">
            <a:avLst/>
          </a:prstGeom>
          <a:solidFill>
            <a:srgbClr val="1C325A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82880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📄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96112" y="182880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DEG_results_TCGA_SIGNIFICANT_ONLY.csv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931920" y="18288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10,683 DEGs | gene · log2FC · padj · UP/DOWN status | sorted by padj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2231136"/>
            <a:ext cx="8412480" cy="43891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23113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96112" y="223113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boxplot_raw_TCGA.png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931920" y="223113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Raw counts BEFORE normalization — QC baseline (lightblue boxes)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2633472"/>
            <a:ext cx="8412480" cy="438912"/>
          </a:xfrm>
          <a:prstGeom prst="rect">
            <a:avLst/>
          </a:prstGeom>
          <a:solidFill>
            <a:srgbClr val="1C325A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633472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96112" y="2633472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boxplot_vst_TCGA.png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931920" y="2633472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VST counts AFTER normalization — boxes should align (lightcoral)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" y="3035808"/>
            <a:ext cx="8412480" cy="43891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035808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🌋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96112" y="3035808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volcano_TCGA.png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931920" y="3035808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~39k genes | UP=red · DOWN=blue · NS=grey | top 10 labeled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65760" y="3438144"/>
            <a:ext cx="8412480" cy="438912"/>
          </a:xfrm>
          <a:prstGeom prst="rect">
            <a:avLst/>
          </a:prstGeom>
          <a:solidFill>
            <a:srgbClr val="1C325A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3438144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🔵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96112" y="3438144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PCA_TCGA.png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931920" y="3438144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Tumor vs Normal separation check — quality control plot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65760" y="3840480"/>
            <a:ext cx="8412480" cy="438912"/>
          </a:xfrm>
          <a:prstGeom prst="rect">
            <a:avLst/>
          </a:prstGeom>
          <a:solidFill>
            <a:srgbClr val="1A2C5B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3840480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🔥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96112" y="3840480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heatmap_top25_TCGA.png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3931920" y="384048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25 DEGs · centered expression · Tumor/Normal annotation bar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65760" y="4242816"/>
            <a:ext cx="8412480" cy="438912"/>
          </a:xfrm>
          <a:prstGeom prst="rect">
            <a:avLst/>
          </a:prstGeom>
          <a:solidFill>
            <a:srgbClr val="1C325A"/>
          </a:solidFill>
          <a:ln w="12700">
            <a:solidFill>
              <a:srgbClr val="1A2C5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242816"/>
            <a:ext cx="4114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📉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96112" y="4242816"/>
            <a:ext cx="3017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6E8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MA_TCGA.png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931920" y="4242816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AABD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expression vs fold change — checks for normalization bias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7731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0C7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 outputs saved in the /results folder in your working directory.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TCGA-BRCA DESeq2 Pipeline — Line-by-Line Notes</dc:title>
  <dc:subject>PptxGenJS Presentation</dc:subject>
  <dc:creator>PptxGenJS</dc:creator>
  <cp:lastModifiedBy>PptxGenJS</cp:lastModifiedBy>
  <cp:revision>1</cp:revision>
  <dcterms:created xsi:type="dcterms:W3CDTF">2026-06-22T11:34:46Z</dcterms:created>
  <dcterms:modified xsi:type="dcterms:W3CDTF">2026-06-22T11:34:46Z</dcterms:modified>
</cp:coreProperties>
</file>